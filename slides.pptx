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6" r:id="rId3"/>
    <p:sldId id="268" r:id="rId4"/>
    <p:sldId id="263" r:id="rId5"/>
    <p:sldId id="269" r:id="rId6"/>
    <p:sldId id="270" r:id="rId7"/>
    <p:sldId id="264" r:id="rId8"/>
    <p:sldId id="271" r:id="rId9"/>
    <p:sldId id="272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7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Rocky Little" initials="RL" lastIdx="2" clrIdx="1">
    <p:extLst>
      <p:ext uri="{19B8F6BF-5375-455C-9EA6-DF929625EA0E}">
        <p15:presenceInfo xmlns:p15="http://schemas.microsoft.com/office/powerpoint/2012/main" userId="Rocky Litt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62"/>
    <a:srgbClr val="C28220"/>
    <a:srgbClr val="1D2128"/>
    <a:srgbClr val="008000"/>
    <a:srgbClr val="E09E19"/>
    <a:srgbClr val="ED4E33"/>
    <a:srgbClr val="2D637F"/>
    <a:srgbClr val="D5C711"/>
    <a:srgbClr val="EDDE1F"/>
    <a:srgbClr val="F7F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6517" autoAdjust="0"/>
  </p:normalViewPr>
  <p:slideViewPr>
    <p:cSldViewPr snapToGrid="0" snapToObjects="1">
      <p:cViewPr varScale="1">
        <p:scale>
          <a:sx n="140" d="100"/>
          <a:sy n="140" d="100"/>
        </p:scale>
        <p:origin x="1104" y="120"/>
      </p:cViewPr>
      <p:guideLst>
        <p:guide orient="horz" pos="3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>
                <a:latin typeface="Lucida Grande Regular" panose="020B0600040502020204" pitchFamily="34" charset="0"/>
              </a:rPr>
              <a:t>9/14/2026</a:t>
            </a:fld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>
                <a:latin typeface="Lucida Grande Regular" panose="020B0600040502020204" pitchFamily="34" charset="0"/>
              </a:rPr>
              <a:t>‹#›</a:t>
            </a:fld>
            <a:endParaRPr lang="en-US" dirty="0">
              <a:latin typeface="Lucida Grande Regular" panose="020B0600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5F53F6BF-7462-9046-A2B6-90C29244BD2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84B7DBC5-2A13-CA47-B9EE-6017A92B6B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&amp; Subtitle">
    <p:bg>
      <p:bgPr>
        <a:blipFill dpi="0" rotWithShape="1">
          <a:blip r:embed="rId2">
            <a:alphaModFix amt="8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9CCA12-0ECC-3EF2-3FC3-F9133C398266}"/>
              </a:ext>
            </a:extLst>
          </p:cNvPr>
          <p:cNvSpPr/>
          <p:nvPr/>
        </p:nvSpPr>
        <p:spPr>
          <a:xfrm>
            <a:off x="1077310" y="672662"/>
            <a:ext cx="10053145" cy="550216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255" y="2154621"/>
            <a:ext cx="9165021" cy="176479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ctr">
              <a:defRPr sz="5000" b="1">
                <a:solidFill>
                  <a:srgbClr val="C2822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2220" y="4038497"/>
            <a:ext cx="8203325" cy="53077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3CA29-F312-94B6-C8DD-4D07E7856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15" y="5043638"/>
            <a:ext cx="4876025" cy="952149"/>
          </a:xfrm>
          <a:prstGeom prst="rect">
            <a:avLst/>
          </a:prstGeom>
        </p:spPr>
      </p:pic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0AC6F3A1-EC45-658B-3733-1EABE4FB71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9254" y="1468283"/>
            <a:ext cx="9165021" cy="530773"/>
          </a:xfrm>
        </p:spPr>
        <p:txBody>
          <a:bodyPr/>
          <a:lstStyle>
            <a:lvl1pPr algn="ctr">
              <a:buNone/>
              <a:defRPr b="1">
                <a:solidFill>
                  <a:srgbClr val="00326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Programming Languages for Molecular Science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629201-40DE-897B-A72F-30DD3508F125}"/>
              </a:ext>
            </a:extLst>
          </p:cNvPr>
          <p:cNvCxnSpPr>
            <a:cxnSpLocks/>
          </p:cNvCxnSpPr>
          <p:nvPr userDrawn="1"/>
        </p:nvCxnSpPr>
        <p:spPr>
          <a:xfrm>
            <a:off x="1885416" y="1683953"/>
            <a:ext cx="914399" cy="0"/>
          </a:xfrm>
          <a:prstGeom prst="line">
            <a:avLst/>
          </a:prstGeom>
          <a:ln>
            <a:solidFill>
              <a:srgbClr val="C28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7608C5-74C4-ECA1-AC91-B452112F89F6}"/>
              </a:ext>
            </a:extLst>
          </p:cNvPr>
          <p:cNvCxnSpPr>
            <a:cxnSpLocks/>
          </p:cNvCxnSpPr>
          <p:nvPr userDrawn="1"/>
        </p:nvCxnSpPr>
        <p:spPr>
          <a:xfrm>
            <a:off x="9427412" y="1680176"/>
            <a:ext cx="914399" cy="0"/>
          </a:xfrm>
          <a:prstGeom prst="line">
            <a:avLst/>
          </a:prstGeom>
          <a:ln>
            <a:solidFill>
              <a:srgbClr val="C28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05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1737360"/>
            <a:ext cx="427883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3472928"/>
            <a:ext cx="4019434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17189-DEBF-4A8E-A764-E34941DB9AE6}"/>
              </a:ext>
            </a:extLst>
          </p:cNvPr>
          <p:cNvSpPr txBox="1"/>
          <p:nvPr/>
        </p:nvSpPr>
        <p:spPr>
          <a:xfrm>
            <a:off x="864375" y="1147688"/>
            <a:ext cx="4271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Chem 274A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Introduction to Programming Languages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19A90D-F4BF-8656-81C8-EF304C28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75" y="4927902"/>
            <a:ext cx="4068733" cy="14802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C55050-1C04-80E4-F47E-C08CB5D519AF}"/>
              </a:ext>
            </a:extLst>
          </p:cNvPr>
          <p:cNvSpPr txBox="1"/>
          <p:nvPr userDrawn="1"/>
        </p:nvSpPr>
        <p:spPr>
          <a:xfrm>
            <a:off x="864375" y="1147688"/>
            <a:ext cx="4271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Chem 274A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Introduction to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74141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40301"/>
            <a:ext cx="9085179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 b="1">
                <a:solidFill>
                  <a:srgbClr val="C2822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89147"/>
            <a:ext cx="8534400" cy="45664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928A7-01CD-3240-59B3-475992CD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75" y="4927902"/>
            <a:ext cx="4068733" cy="14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4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343"/>
            <a:ext cx="10354733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10320867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33338-3A96-4EA6-93D5-24A3FF05D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87" y="6397934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2C6D0-7C6D-469D-AAF7-F0262D9B22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4287" y="6397933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89B69-F11E-AFEF-9EF9-75038415B3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5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685343"/>
            <a:ext cx="4584668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4569673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D3226-15E2-9F03-E7FD-369E49948A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8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729789"/>
            <a:ext cx="467127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358775"/>
            <a:ext cx="4671273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4296527"/>
            <a:ext cx="4671273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FBCAA-5508-092C-F408-148373695F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7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1E2881C-E8AA-4CC5-8C0C-92CC7E3F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685800"/>
            <a:ext cx="9952567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4957233" cy="35610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5566836" y="2097759"/>
            <a:ext cx="4995333" cy="356103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13FA-DD2E-43FB-8825-0C2D97AB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B649B-1E28-400B-9D5B-7BD973DD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9D50C-F843-C491-7C2C-B4C0F5FF4D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4770431"/>
            <a:ext cx="10891518" cy="47875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621265"/>
            <a:ext cx="10891520" cy="4117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999" y="5266552"/>
            <a:ext cx="10891519" cy="566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9DAB-EE73-4D43-AB2E-4D1BC532F2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048C-C931-4C63-89B1-57539AE9E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CD85F0-C324-A059-3586-C79CC3D68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1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5E5C86-5D67-4951-BE37-85F47407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041995"/>
            <a:ext cx="4011084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66737" y="1042000"/>
            <a:ext cx="6049433" cy="365700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9945E8-F6F0-4160-A21E-AE7F4910C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3B9248-F3AD-44B6-8D6B-7E8043C1B0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35B1260-EA88-464B-8C1B-6DCAE8F9F6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3" y="1566863"/>
            <a:ext cx="4011610" cy="3132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5C08C-D2FF-C0A3-4CC8-E6D50D087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1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9600" y="525956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8079"/>
            <a:ext cx="109728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012" y="5"/>
            <a:ext cx="3825989" cy="23795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73EFA2-36FA-1856-1C10-DA43BD4E5DB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366012" y="5"/>
            <a:ext cx="3825989" cy="237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1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5000" b="1" i="0" kern="1200">
          <a:solidFill>
            <a:srgbClr val="C28220"/>
          </a:solidFill>
          <a:latin typeface="+mj-lt"/>
          <a:ea typeface="+mj-ea"/>
          <a:cs typeface="FreightSans Pro Bold" panose="02000803040000020004" pitchFamily="50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ost_vexing_pars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8B9D-4998-0E41-A021-DC277E682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Discussion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616B9-60C7-F8B6-5539-3342DA44EF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Review &amp; Classes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6B8C5-6295-258F-6180-E7DD87988C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30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D69C-BA91-8D5D-096B-74229EE95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&amp; Destructors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0C1E-221E-9580-41CA-D44356D3A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classes, like python classes, run </a:t>
            </a:r>
            <a:r>
              <a:rPr lang="en-US" i="1" dirty="0"/>
              <a:t>constructors</a:t>
            </a:r>
            <a:r>
              <a:rPr lang="en-US" dirty="0"/>
              <a:t> when objects of that class are initially created</a:t>
            </a:r>
          </a:p>
          <a:p>
            <a:pPr lvl="1"/>
            <a:r>
              <a:rPr lang="en-US" dirty="0"/>
              <a:t>What is the equivalent in Python?</a:t>
            </a:r>
          </a:p>
          <a:p>
            <a:pPr lvl="1"/>
            <a:r>
              <a:rPr lang="en-US" dirty="0"/>
              <a:t>How can C++ constructors be different than those in python?</a:t>
            </a:r>
          </a:p>
          <a:p>
            <a:r>
              <a:rPr lang="en-US" dirty="0"/>
              <a:t>C++ classes can also have </a:t>
            </a:r>
            <a:r>
              <a:rPr lang="en-US" i="1" dirty="0"/>
              <a:t>destructors</a:t>
            </a:r>
          </a:p>
          <a:p>
            <a:pPr lvl="1"/>
            <a:r>
              <a:rPr lang="en-US" dirty="0"/>
              <a:t>Kind of like Python?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6819A-94AD-D3E4-857C-21CBF21ADC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1779A-F748-6254-93BC-DBD7273C9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6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114A5-F34B-135D-27C6-A7656F8C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09FC-053F-931F-3B65-EE230BE7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Constructors &amp; Destructors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B6D10-D10E-1735-AF13-D51CC137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not specified, compilers will generate some for you</a:t>
            </a:r>
          </a:p>
          <a:p>
            <a:r>
              <a:rPr lang="en-US" dirty="0"/>
              <a:t>If you specify one, the compiler may not generate the others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4E5BE-D435-C78B-71C1-C9C46BA57A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9A5C82-1E28-BE1C-80AE-26AB611A7480}"/>
              </a:ext>
            </a:extLst>
          </p:cNvPr>
          <p:cNvSpPr txBox="1">
            <a:spLocks/>
          </p:cNvSpPr>
          <p:nvPr/>
        </p:nvSpPr>
        <p:spPr>
          <a:xfrm>
            <a:off x="762000" y="879315"/>
            <a:ext cx="10354733" cy="1150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4400" dirty="0">
              <a:solidFill>
                <a:srgbClr val="00326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8C84BB-AD2C-D6EC-7881-38606D23CDF8}"/>
              </a:ext>
            </a:extLst>
          </p:cNvPr>
          <p:cNvSpPr txBox="1">
            <a:spLocks/>
          </p:cNvSpPr>
          <p:nvPr/>
        </p:nvSpPr>
        <p:spPr>
          <a:xfrm>
            <a:off x="761999" y="1914257"/>
            <a:ext cx="10354733" cy="2645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1400" dirty="0">
              <a:solidFill>
                <a:schemeClr val="tx1"/>
              </a:solidFill>
              <a:latin typeface="FreightText Pro Light" panose="02000603050000020004" pitchFamily="50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B159887-7B52-1881-5017-AFB0B7E9D1F9}"/>
              </a:ext>
            </a:extLst>
          </p:cNvPr>
          <p:cNvSpPr txBox="1">
            <a:spLocks/>
          </p:cNvSpPr>
          <p:nvPr/>
        </p:nvSpPr>
        <p:spPr>
          <a:xfrm>
            <a:off x="829733" y="2956906"/>
            <a:ext cx="495723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class Circle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private: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 double radius_;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};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E23B3FD-6862-6EF9-E8E8-F75D14FC0852}"/>
              </a:ext>
            </a:extLst>
          </p:cNvPr>
          <p:cNvSpPr txBox="1">
            <a:spLocks/>
          </p:cNvSpPr>
          <p:nvPr/>
        </p:nvSpPr>
        <p:spPr>
          <a:xfrm>
            <a:off x="6311898" y="2959109"/>
            <a:ext cx="575272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int main(void) 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// compiler generated Circle()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// compiler generated copy constructor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c2(c);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return 0;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379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EDC7-5327-40B9-B960-0DD9BB18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Constructors &amp; Destructors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54423-322D-576B-85F6-F40C99298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not specified, compilers will generate some for you</a:t>
            </a:r>
          </a:p>
          <a:p>
            <a:r>
              <a:rPr lang="en-US" dirty="0"/>
              <a:t>If you specify one, the compiler may not generate the others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7A1B1-18AC-4487-9DFE-5E32BA5B97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439E6E-FAC3-4613-B318-26F81D1A8799}"/>
              </a:ext>
            </a:extLst>
          </p:cNvPr>
          <p:cNvSpPr txBox="1">
            <a:spLocks/>
          </p:cNvSpPr>
          <p:nvPr/>
        </p:nvSpPr>
        <p:spPr>
          <a:xfrm>
            <a:off x="762000" y="879315"/>
            <a:ext cx="10354733" cy="1150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4400" dirty="0">
              <a:solidFill>
                <a:srgbClr val="00326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F3AF3B7-3B9E-479D-8F99-EE58AACF9C41}"/>
              </a:ext>
            </a:extLst>
          </p:cNvPr>
          <p:cNvSpPr txBox="1">
            <a:spLocks/>
          </p:cNvSpPr>
          <p:nvPr/>
        </p:nvSpPr>
        <p:spPr>
          <a:xfrm>
            <a:off x="761999" y="1914257"/>
            <a:ext cx="10354733" cy="2645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1400" dirty="0">
              <a:solidFill>
                <a:schemeClr val="tx1"/>
              </a:solidFill>
              <a:latin typeface="FreightText Pro Light" panose="02000603050000020004" pitchFamily="50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71CFF8B-5ADE-5D5C-830B-C4118B4C7FD5}"/>
              </a:ext>
            </a:extLst>
          </p:cNvPr>
          <p:cNvSpPr txBox="1">
            <a:spLocks/>
          </p:cNvSpPr>
          <p:nvPr/>
        </p:nvSpPr>
        <p:spPr>
          <a:xfrm>
            <a:off x="829733" y="2956906"/>
            <a:ext cx="495723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class Circle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private: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 double radius_;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public: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 Circle(double r) : radius_(r) {}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};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14525F-F108-2B1B-9A36-3EB9140A1278}"/>
              </a:ext>
            </a:extLst>
          </p:cNvPr>
          <p:cNvSpPr txBox="1">
            <a:spLocks/>
          </p:cNvSpPr>
          <p:nvPr/>
        </p:nvSpPr>
        <p:spPr>
          <a:xfrm>
            <a:off x="6311898" y="2959109"/>
            <a:ext cx="495723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int main(void) 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// ERROR – no Circle() constructor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	// ERROR – no copy constructor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c2(c);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return 0;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59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296C-CE97-4F18-FF49-FC5225F2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FCA4-8565-C783-0BBF-EEB7A4825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“default”-ed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AA2A2-A012-BC0E-B80C-8D2F56CF4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not specified, compilers will generate some for you</a:t>
            </a:r>
          </a:p>
          <a:p>
            <a:r>
              <a:rPr lang="en-US" dirty="0"/>
              <a:t>Can force compiler to generate one that would otherwise not 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828CB-2F0C-52ED-BACB-B4B8717F1B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C0EF1BB-9A13-3A19-0FE7-D178774AD537}"/>
              </a:ext>
            </a:extLst>
          </p:cNvPr>
          <p:cNvSpPr txBox="1">
            <a:spLocks/>
          </p:cNvSpPr>
          <p:nvPr/>
        </p:nvSpPr>
        <p:spPr>
          <a:xfrm>
            <a:off x="762000" y="879315"/>
            <a:ext cx="10354733" cy="1150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4400" dirty="0">
              <a:solidFill>
                <a:srgbClr val="00326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5C6F87-C88D-7DA1-E3C7-0051EB2FA925}"/>
              </a:ext>
            </a:extLst>
          </p:cNvPr>
          <p:cNvSpPr txBox="1">
            <a:spLocks/>
          </p:cNvSpPr>
          <p:nvPr/>
        </p:nvSpPr>
        <p:spPr>
          <a:xfrm>
            <a:off x="761999" y="1914257"/>
            <a:ext cx="10354733" cy="2645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1400" dirty="0">
              <a:solidFill>
                <a:schemeClr val="tx1"/>
              </a:solidFill>
              <a:latin typeface="FreightText Pro Light" panose="02000603050000020004" pitchFamily="50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32DBF0B-84D7-7D98-71ED-A48A7A5DFC16}"/>
              </a:ext>
            </a:extLst>
          </p:cNvPr>
          <p:cNvSpPr txBox="1">
            <a:spLocks/>
          </p:cNvSpPr>
          <p:nvPr/>
        </p:nvSpPr>
        <p:spPr>
          <a:xfrm>
            <a:off x="829733" y="2956906"/>
            <a:ext cx="495723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class Circle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private: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 double radius_;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public: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Circle(double r) : radius_(r) {}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Circle(const Circle &amp; other) = default;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};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6808955-6732-D204-8E59-428ECEE8B748}"/>
              </a:ext>
            </a:extLst>
          </p:cNvPr>
          <p:cNvSpPr txBox="1">
            <a:spLocks/>
          </p:cNvSpPr>
          <p:nvPr/>
        </p:nvSpPr>
        <p:spPr>
          <a:xfrm>
            <a:off x="6311898" y="2959109"/>
            <a:ext cx="495723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int main(void) 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// Still not ok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	// Ok now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c2(c);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return 0;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758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D2CA-97BD-688C-F1D4-0805E9B0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1065-A8C2-CEFE-8959-45B99957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“default”-ed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2C439-398E-0697-93BA-C5916AD50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not specified, compilers will generate some for you</a:t>
            </a:r>
          </a:p>
          <a:p>
            <a:r>
              <a:rPr lang="en-US" dirty="0"/>
              <a:t>Can force compiler to generate one that would otherwise not 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218FD-CBFE-5C5A-0975-22F69E6E02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5D36D6-936C-A6DE-3B48-CDF922871FA0}"/>
              </a:ext>
            </a:extLst>
          </p:cNvPr>
          <p:cNvSpPr txBox="1">
            <a:spLocks/>
          </p:cNvSpPr>
          <p:nvPr/>
        </p:nvSpPr>
        <p:spPr>
          <a:xfrm>
            <a:off x="762000" y="879315"/>
            <a:ext cx="10354733" cy="1150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4400" dirty="0">
              <a:solidFill>
                <a:srgbClr val="00326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A15778-31FB-7AF9-B505-E516219A44DD}"/>
              </a:ext>
            </a:extLst>
          </p:cNvPr>
          <p:cNvSpPr txBox="1">
            <a:spLocks/>
          </p:cNvSpPr>
          <p:nvPr/>
        </p:nvSpPr>
        <p:spPr>
          <a:xfrm>
            <a:off x="761999" y="1914257"/>
            <a:ext cx="10354733" cy="2645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rgbClr val="C28220"/>
                </a:solidFill>
                <a:latin typeface="FreightSans Pro Bold" panose="02000803040000020004" pitchFamily="50" charset="0"/>
                <a:ea typeface="+mj-ea"/>
                <a:cs typeface="FreightSans Pro Bold" panose="02000803040000020004" pitchFamily="50" charset="0"/>
              </a:defRPr>
            </a:lvl1pPr>
          </a:lstStyle>
          <a:p>
            <a:endParaRPr lang="en-US" sz="1400" dirty="0">
              <a:solidFill>
                <a:schemeClr val="tx1"/>
              </a:solidFill>
              <a:latin typeface="FreightText Pro Light" panose="02000603050000020004" pitchFamily="50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CB41FBA-C5E0-37C4-1860-51FE13A49B94}"/>
              </a:ext>
            </a:extLst>
          </p:cNvPr>
          <p:cNvSpPr txBox="1">
            <a:spLocks/>
          </p:cNvSpPr>
          <p:nvPr/>
        </p:nvSpPr>
        <p:spPr>
          <a:xfrm>
            <a:off x="829733" y="2956906"/>
            <a:ext cx="495723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class Circle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private: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 double radius_;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public: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 Circle() = default;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  Circle(double r) : radius_(r) {}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	 Circle(const Circle &amp; other) = default;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};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57F5BB-A692-E5FB-6292-87F000E170D3}"/>
              </a:ext>
            </a:extLst>
          </p:cNvPr>
          <p:cNvSpPr txBox="1">
            <a:spLocks/>
          </p:cNvSpPr>
          <p:nvPr/>
        </p:nvSpPr>
        <p:spPr>
          <a:xfrm>
            <a:off x="6311898" y="2959109"/>
            <a:ext cx="4957233" cy="264504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int main(void) 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// Ok now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	// Ok now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c2(c);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return 0;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3782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2CF5-8082-8D57-FB4E-ECDDFFE0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E5204-6E81-52FC-2460-02E048FE1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not specified, compilers will generate some for you</a:t>
            </a:r>
          </a:p>
          <a:p>
            <a:r>
              <a:rPr lang="en-US" dirty="0"/>
              <a:t>If you specify one, the compiler may not generate the others</a:t>
            </a:r>
          </a:p>
          <a:p>
            <a:r>
              <a:rPr lang="en-US" dirty="0"/>
              <a:t>“If a class requires a user-defined copy constructor, destructor, or copy assignment operator, it very likely requires all three.”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7626D-5F67-E44A-941A-599B39388A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410AE-7F5C-A4C2-F666-C7F1ABB95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229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17F9-AF0A-30E9-CDA3-33CED6784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 – “Most vexing parse”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03A7930-3550-1D12-6255-7EA10D588FFE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int main(void) 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// Ok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c(4);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	// Warning??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c2();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return 0;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A78137-6C4E-1F9D-9B87-5F1CF4ADE95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566836" y="2097759"/>
            <a:ext cx="6204358" cy="3561033"/>
          </a:xfrm>
        </p:spPr>
        <p:txBody>
          <a:bodyPr/>
          <a:lstStyle/>
          <a:p>
            <a:r>
              <a:rPr lang="en-US" dirty="0"/>
              <a:t>C++ compilers can interpret the second version as a function declaration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E8D44-BD52-6E7F-5657-8C08FED7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5D8F3-1967-8B0E-8936-3A46FFBF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9497C7-E71B-BD47-884E-503C62EC8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021" y="3243126"/>
            <a:ext cx="7731029" cy="1327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1FC138-45E5-0107-ADBC-39934DBEB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021" y="4648952"/>
            <a:ext cx="7887763" cy="135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BE7F7-D683-84F6-5065-C39BD734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D46F-0F53-120A-9F2C-802DD949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 – “Most vexing parse”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44D66F9-049F-B1D9-5DF4-08FEC655C6F6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609604" y="2097755"/>
            <a:ext cx="4726671" cy="35610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vert="horz" lIns="100000" tIns="70000" rIns="100000" bIns="7000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FreightSans Pro Medium" panose="02000606030000020004" pitchFamily="50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int main(void) {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// Ok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c(4);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	// Ok now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c2{};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	// or leave off the parentheses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Circle c3;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endParaRPr lang="en-US" sz="1600" dirty="0">
              <a:solidFill>
                <a:srgbClr val="F8FAFC"/>
              </a:solidFill>
              <a:latin typeface="Courier New"/>
            </a:endParaRP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    return 0;</a:t>
            </a:r>
          </a:p>
          <a:p>
            <a:pPr marL="0" indent="0">
              <a:buNone/>
              <a:defRPr>
                <a:solidFill>
                  <a:srgbClr val="F8FAFC"/>
                </a:solidFill>
              </a:defRPr>
            </a:pPr>
            <a:r>
              <a:rPr lang="en-US" sz="1600" dirty="0">
                <a:solidFill>
                  <a:srgbClr val="F8FAFC"/>
                </a:solidFill>
                <a:latin typeface="Courier New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3ACB8-A00D-6262-193E-C3B029DDC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3EC06-34CC-6D3F-9E31-14DF825B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BB333-5BBB-6686-2715-2CCE4263B52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566836" y="2097759"/>
            <a:ext cx="6525080" cy="35610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>
                <a:hlinkClick r:id="rId2"/>
              </a:rPr>
              <a:t>https://en.wikipedia.org/wiki/Most_vexing_parse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2814639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1"/>
</p:tagLst>
</file>

<file path=ppt/theme/theme1.xml><?xml version="1.0" encoding="utf-8"?>
<a:theme xmlns:a="http://schemas.openxmlformats.org/drawingml/2006/main" name="Berkeley-MSSE">
  <a:themeElements>
    <a:clrScheme name="Custom 1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rkeley fonts">
      <a:majorFont>
        <a:latin typeface="Source Serif 4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447E171-8FB3-4FBC-8A0C-1239009F66E7}" vid="{777B9633-6487-4C53-8BE9-6F81DF3B2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slide_template</Template>
  <TotalTime>168</TotalTime>
  <Words>572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Courier New</vt:lpstr>
      <vt:lpstr>FreightText Pro Light</vt:lpstr>
      <vt:lpstr>Inter</vt:lpstr>
      <vt:lpstr>Lucida Grande Regular</vt:lpstr>
      <vt:lpstr>Source Serif 4</vt:lpstr>
      <vt:lpstr>Berkeley-MSSE</vt:lpstr>
      <vt:lpstr>Discussion 1</vt:lpstr>
      <vt:lpstr>Constructors &amp; Destructors</vt:lpstr>
      <vt:lpstr>Constructors &amp; Destructors</vt:lpstr>
      <vt:lpstr>Constructors &amp; Destructors</vt:lpstr>
      <vt:lpstr>“default”-ed functions</vt:lpstr>
      <vt:lpstr>“default”-ed functions</vt:lpstr>
      <vt:lpstr>Rule of 3</vt:lpstr>
      <vt:lpstr>Miscellaneous – “Most vexing parse”</vt:lpstr>
      <vt:lpstr>Miscellaneous – “Most vexing parse”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Pritchard</dc:creator>
  <cp:lastModifiedBy>Benjamin Pritchard</cp:lastModifiedBy>
  <cp:revision>9</cp:revision>
  <dcterms:created xsi:type="dcterms:W3CDTF">2026-09-14T20:29:13Z</dcterms:created>
  <dcterms:modified xsi:type="dcterms:W3CDTF">2026-09-14T23:17:37Z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E3993A2F-7A32-4D5D-8109-C84502C343A8</vt:lpwstr>
  </property>
  <property fmtid="{D5CDD505-2E9C-101B-9397-08002B2CF9AE}" pid="3" name="ArticulatePath">
    <vt:lpwstr>powerpointDeck_template</vt:lpwstr>
  </property>
</Properties>
</file>